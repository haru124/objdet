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F3D3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on Cityscapes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+ FPN  |  COCO Pretrained  |  3 Experiments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206240"/>
            <a:ext cx="1325880" cy="27432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84248" y="4206240"/>
            <a:ext cx="1325880" cy="27432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65576" y="4206240"/>
            <a:ext cx="1325880" cy="27432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46904" y="4206240"/>
            <a:ext cx="1325880" cy="27432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15" name="Text 13"/>
          <p:cNvSpPr/>
          <p:nvPr/>
        </p:nvSpPr>
        <p:spPr>
          <a:xfrm>
            <a:off x="4946904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28232" y="4206240"/>
            <a:ext cx="1325880" cy="274320"/>
          </a:xfrm>
          <a:prstGeom prst="rect">
            <a:avLst/>
          </a:prstGeom>
          <a:solidFill>
            <a:srgbClr val="0F3D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Convolutional Object Detection Models — Taxonomy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06240" cy="4370832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640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 + Classification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075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63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/ VGG-16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8920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Search; crops → CNN each; very slow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1920240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65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conv map + RoI Pooling; CPU proposals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578608"/>
            <a:ext cx="4005072" cy="585216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24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 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ResNet-50/101 + FPN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88920" y="2670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RPN, end-to-end, best accuracy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60520" y="2743200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" y="3236976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ResNet-50/101 + FPN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33284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mask branch (instance segmentation)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60520" y="3401568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" y="3895344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9410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R-CNN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970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+ FPN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88920" y="39867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IoU threshold refinement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60520" y="4059936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681728" y="566928"/>
            <a:ext cx="4206240" cy="4370832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640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28032" y="969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/ Anchor-Based Direct Prediction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1261872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82896" y="1307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82896" y="15636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/ MobileNet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22592" y="13533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 maps, fast inference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1920240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82896" y="19659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v1–v4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82896" y="2221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 / CSPNet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22592" y="20116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Grid-based; very fast; real-time capable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578608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82896" y="2624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82896" y="2880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ResNet-50/101 + FPN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22592" y="26700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for class imbalance; single-stage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577072" y="2743200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4773168" y="3236976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82896" y="3282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82896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+ FPN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22592" y="332841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Anchor-free; centerness branch per location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577072" y="3401568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Shape 50"/>
          <p:cNvSpPr/>
          <p:nvPr/>
        </p:nvSpPr>
        <p:spPr>
          <a:xfrm>
            <a:off x="4773168" y="3895344"/>
            <a:ext cx="4005072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82896" y="3941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EfficientDet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82896" y="4197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+ BiFPN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22592" y="398678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scaling; scalable accuracy/speed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4892040"/>
            <a:ext cx="109728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420624" y="48828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ResNet backbone     ★ = Our chosen model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Faster R-CNN? — General + Cityscapes-Specific Rationale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2697480" cy="24688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21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trainable RPN + head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2710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accuracy — two-stage refinement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FPN: rich multi-scale features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9110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torchvision integration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2311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swap backbone, anchors, NMS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5511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pretrained → fast transfer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127248"/>
            <a:ext cx="2697480" cy="178308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51129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single-stage models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8313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overhead (RPN + head)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15137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memory at high resolution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4714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real-time edge deploy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90672" y="566928"/>
            <a:ext cx="3127248" cy="43434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18688" y="62179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Best for Cityscapes?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18688" y="9509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2048×1024 images with small &amp; occluded objects → two-stage refinement is crucial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218688" y="14081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generates class-agnostic proposals cleanly, handles dominant pedestrian/car imbalance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218688" y="18653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instances (pedestrians in crowd) — RoI Align gives precise localisation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218688" y="23225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&gt; speed for benchmark evaluation; no real-time constraint in this project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218688" y="27797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→ Cityscapes transfer: overlapping urban objects (person, car, bicycle, truck)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218688" y="32369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sizes fully tunable to Cityscapes object scale distribution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218688" y="36941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trainable_layers=1 is sufficient with strong COCO pretrained weights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355080" y="566928"/>
            <a:ext cx="2560320" cy="43434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73952" y="621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RetinaNet?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73952" y="9509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→ coarser predictions, worse on small occluded pedestrians at distance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73952" y="16093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helps imbalance but loses two-stage accuracy benefit on dense scenes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73952" y="22677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 refinement → lower mAP on overlapping Cityscapes instances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3952" y="29260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grid gives less precise RoI features vs region-pooling approach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73952" y="35844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lower mAP on Cityscapes benchmark vs Faster R-CNN with same backbone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— Architecture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566928"/>
            <a:ext cx="2194560" cy="585216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47872" y="6217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47872" y="88696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× W × 3  (2048 × 1024 Cityscapes)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1152144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353312"/>
            <a:ext cx="5852160" cy="585216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1408176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Backbone + FPN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9072" y="1673352"/>
            <a:ext cx="5705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C2–C5 → P2–P5  |  shapes: [B, 256, H/4..H/32, W/4..W/32]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938528"/>
            <a:ext cx="0" cy="21031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148840"/>
            <a:ext cx="-100584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148840"/>
            <a:ext cx="1005840" cy="2286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77440"/>
            <a:ext cx="3291840" cy="621792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24323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(Region Proposal Network)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6974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Anchors → objectness + bbox Δ → NMS → ~2000 proposals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2377440"/>
            <a:ext cx="3291840" cy="621792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50992" y="24323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MultiScaleRoIAlign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269748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proposals to FPN level → [N, 256, 7, 7]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2688336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542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2999232"/>
            <a:ext cx="0" cy="219456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218688"/>
            <a:ext cx="5120640" cy="585216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327355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TwoMLPHead (Detection Head)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353872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Flatten→FC(12544,1024)→ReLU→FC(1024,1024)→ReLU → [N,1024]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23760" y="3803904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005072"/>
            <a:ext cx="2331720" cy="585216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36592" y="405993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FastRCNNPredictor (cls)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43251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Linear(1024, C+1)  →  [N, 9]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4005072"/>
            <a:ext cx="2331720" cy="585216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05472" y="405993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Regressor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43251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Linear(1024, 4×C)  →  [N, 32]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218688"/>
            <a:ext cx="4224528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4048" y="3273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Level Assignment: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35478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(stride 4)  → small objects  ≤ 32px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3749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(stride 8)  → medium  32–64px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3950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(stride 16) → medium  64–128px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" y="4151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 (stride 32) → large objects ≥ 128px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4048" y="4352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k₀ + ⌊log₂(√(wh) / 224)⌋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Internals — Transform · AnchorGenerator · RPN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2618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566928"/>
            <a:ext cx="164592" cy="12618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621792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GeneralizedRCNNTransform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896112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torchvision.models.detection.transform import GeneralizedRCNNTransform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" y="1115568"/>
            <a:ext cx="8302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images before entering the network. Normalises pixels using ImageNet mean/std, resizes shorter edge to min_size=800 capped at max_size=1333 (retaining aspect ratio). Batches variable-size images into an ImageList. Output: tensors [B, 3, H', W'] + image_sizes list. Also post-processes detections back to original image scale at inference.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6032" y="1920240"/>
            <a:ext cx="8631936" cy="129844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920240"/>
            <a:ext cx="164592" cy="12984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1975104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AnchorGenerator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" y="2249424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torchvision.models.detection.rpn import AnchorGenerator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" y="2468880"/>
            <a:ext cx="8302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fixed grid of anchors at every spatial location for each FPN level. Sizes: (32,), (64,), (128,), (256,), (512,) per level × aspect_ratios: (0.5, 1.0, 2.0) → 3 anchors / location / level. Example: P3 at 200×100 → 200×100×3 = 60,000 anchors from that level alone. Total across 5 FPN levels for a typical image: ~250,000–300,000 anchors.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56032" y="3310128"/>
            <a:ext cx="420624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310128"/>
            <a:ext cx="164592" cy="1645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336499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3639312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torchvision.models.detection.rpn import RPNHead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" y="3858768"/>
            <a:ext cx="3877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conv head shared across all FPN levels.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 → two sibling 1×1 convs: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cls_logits:  [B, A, H, W]  — objectness per anchor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bbox_pred:  [B, 4A, H, W]  — (dx, dy, dw, dh) deltas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anchors per location (= 3 here)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NMS → top-K proposals.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553712" y="3310128"/>
            <a:ext cx="4334256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3712" y="3310128"/>
            <a:ext cx="164592" cy="1645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36499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RegionProposalNetwork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363931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torchvision.models.detection.rpn import RegionProposalNetwork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9744" y="3858768"/>
            <a:ext cx="4005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AnchorGenerator + RPNHead + NMS + sampling.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samples 256 anchors (pos:neg 1:1), computes: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RPN cls loss: Binary Cross Entropy on objectness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RPN reg loss: Smooth-L1 on matched anchor deltas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NMS thresh 0.7, returns top-2000 (train) / top-1000 (test) proposals for RoI head.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8737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tensors: cls_logits [B, A, H, W] · bbox_pred [B, 4A, H, W] · proposals list of [K, 4] · objectness [K]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Internals — RoIAlign · TwoMLPHead · FastRCNNPredictor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566928"/>
            <a:ext cx="164592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621792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MultiScaleRoIAlign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896112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torchvision.ops import MultiScaleRoIAlign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2064" y="1115568"/>
            <a:ext cx="8302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proposal to the correct FPN level using: k = k₀ + ⌊log₂(√(w·h) / 224)⌋  where k₀=4. Performs bilinear-interpolated RoI Align at output_size=7×7 — no quantisation errors (unlike RoI Pooling). Input: FPN feature dict + proposal list. Output: [N_proposals, 256, 7, 7]. Example: 1000 proposals × batch 4 → N=4000 RoI features pooled per forward pass.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6032" y="2029968"/>
            <a:ext cx="8631936" cy="1417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029968"/>
            <a:ext cx="164592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084832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TwoMLPHead  (Detection Representation Head)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" y="2359152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torchvision.models.detection.faster_rcnn import TwoMLPHead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2578608"/>
            <a:ext cx="8302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two-FC-layer network that produces a shared representation for classification and regression.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Flatten pooled features  [N, 256, 7, 7] → [N, 12544]   (12544 = 256×7×7)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Linear(12544, 1024) → ReLU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Linear(1024,  1024) → ReLU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Output: [N, 1024]  — shared representation fed to both predictor heads.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56032" y="3538728"/>
            <a:ext cx="8631936" cy="135331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538728"/>
            <a:ext cx="164592" cy="13533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3593592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FastRCNNPredictor  (Classification + Regression)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3867912"/>
            <a:ext cx="8302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torchvision.models.detection.faster_rcnn import FastRCNNPredictor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2064" y="4087368"/>
            <a:ext cx="8302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linear layers on TwoMLPHead output: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cls_score:  Linear(1024, C+1)  → [N, 9]   — logits for 8 classes + background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bbox_pred:  Linear(1024, 4×C)  → [N, 32]  — one set of (dx,dy,dw,dh) per class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softmax(cls_score) → top scores → decode deltas → per-class NMS → final detections.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48737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RoIHeads wrapper: orchestrates RoIAlign → TwoMLPHead → Predictor | Training losses: cls cross-entropy + bbox smooth-L1 | Inference: NMS → clip boxes → filter by score_threshold=0.05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— Pretrained Weights &amp; Base Configuration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160520" cy="19659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621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" y="95097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fasterrcnn_resnet50_fpn_coco.pth (full model)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402336" y="117043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MS-COCO — 80 classes, ~118k images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02336" y="138988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load_backbone_only: false → full model weights loaded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02336" y="160934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+ FPN + heads all initialised from COCO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02336" y="182880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→ Cityscapes: strong domain overlap (person, car, bicycle, truck, bus)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02336" y="20482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trainable_backbone_layers: 1 → only last ResNet stage + FPN layer unfrozen (HW constraint)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02336" y="226771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FrozenBatchNorm2d used — standard for small-batch fine-tuning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0" y="566928"/>
            <a:ext cx="4315968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62179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Configuration (config.yaml)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96012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00016" y="9966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12864" y="9966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ResNet-50 + FPN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123444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12710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resize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12864" y="1271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min=800 / max=1333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26864" y="150876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15453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classes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12864" y="15453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+ background = 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178308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819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proposals (train)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12864" y="1819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205740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00016" y="2093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proposals (test)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12864" y="2093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233172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2368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NMS thresh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2368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26864" y="260604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00016" y="26426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output size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12864" y="2642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× 7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26864" y="288036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2916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Det. NMS thresh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12864" y="2916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26864" y="315468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1" name="Text 39"/>
          <p:cNvSpPr/>
          <p:nvPr/>
        </p:nvSpPr>
        <p:spPr>
          <a:xfrm>
            <a:off x="4700016" y="3191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12864" y="3191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26864" y="342900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700016" y="34655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detections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12864" y="3465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26864" y="3703320"/>
            <a:ext cx="4187952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7" name="Text 45"/>
          <p:cNvSpPr/>
          <p:nvPr/>
        </p:nvSpPr>
        <p:spPr>
          <a:xfrm>
            <a:off x="4700016" y="37398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head rep dim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12864" y="37398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26864" y="3977640"/>
            <a:ext cx="418795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700016" y="4014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IoU thresholds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12864" y="4014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: 0.05 : 0.95 (10 pts)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032" y="2615184"/>
            <a:ext cx="4160520" cy="2322576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02336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Constraint Notes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02336" y="299923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trainable_layers=1 → minimises GPU VRAM; only fine-tunes last ResNet block + FPN top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02336" y="334670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4 across all experiments; gradient accumulation if OOM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02336" y="369417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layers use FrozenBatchNorm2d — stable training with small batches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02336" y="404164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augmentation (Exp 02/03) may require reducing batch size further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02336" y="438912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loaded locally — no internet needed during training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01  (SGD · CrossEntropy · SmoothL1) — Configuration &amp; Rationale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041648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621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01  (SGD · CrossEntropy · SmoothL1) Config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969264"/>
            <a:ext cx="3931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261872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5728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16642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1956816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5728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2304288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9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57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2651760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7066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95728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StepLR (step=7, γ=0.1)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999232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95728" y="3054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3346704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5728" y="34015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3694176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Loss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95728" y="3749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Entropy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4041648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4096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 L1 (β=1.0)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" y="438912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443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95728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(HW constraint)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566928"/>
            <a:ext cx="4480560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566928"/>
            <a:ext cx="164592" cy="43708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6217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choices?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63440" y="95097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 — standard Faster R-CNN training setup to establish performance floor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663440" y="144475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with momentum 0.9 is the canonical optimizer for R-CNN family; stable convergence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663440" y="193852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0.002 is conservative for fine-tuning frozen backbone; avoids disrupting COCO weights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663440" y="2432304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(step=7) drops LR 10× at epoch 7 — standard for RCNN fine-tuning cycles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663440" y="2926080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Entropy: default loss, no class weighting — measures raw model capacity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663440" y="341985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L1: canonical box regression loss in Faster R-CNN; β=1.0 standard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663440" y="391363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setup to isolate model capacity from optimizer/loss design choices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663440" y="440740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epochs: sufficient for convergence signal with strong pretrained initialization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01 — Results (1/3): Training &amp; Validation Losses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Total Loss vs Epoch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→ scalars → loss_total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Loss Breakdown (RPN cls / RPN reg / Det cls / Det reg)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→ 4 separate loss curves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93192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Validation Loss vs Epoch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computed — overlay with train loss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00600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LR Schedule Curve (StepLR drop at epoch 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→ lr or log manually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Export TensorBoard plots as PNG via 'Download' button per scalar. Store locally after each epoch.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01 — Results (2/3): mAP &amp; Per-Class 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4173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019556"/>
            <a:ext cx="8357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mAP@0.5 and mAP@0.5:0.95 Bar Chart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67028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→ compare runs view → screenshot or export CSV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066544"/>
            <a:ext cx="8631936" cy="2651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1214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 Table — fill from MLflow / COCO API evaluator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2432304"/>
            <a:ext cx="20116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32304"/>
            <a:ext cx="2011680" cy="749808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2432304"/>
            <a:ext cx="20116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2432304"/>
            <a:ext cx="2011680" cy="749808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" y="3310128"/>
            <a:ext cx="20116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3310128"/>
            <a:ext cx="2011680" cy="749808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08576" y="3310128"/>
            <a:ext cx="20116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48272" y="3310128"/>
            <a:ext cx="2011680" cy="749808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39712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Run COCO API evaluator at end of training → prints per-class AP. Also logged to MLflow as metrics.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01 — Results (3/3): Qualitative Detections on Test Split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Test Image #1 — Detection Overlay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class labels + confidence scores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Test Image #2 — Dense Scene (pedestrians)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crowded instance handling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93192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Test Image #3 — Occluded / Hard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missed detections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00600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Test Image #4 — Far Distance Objects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small-object detection capability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Use visualise_predictions.py → save PNGs locally → insert here. Pick 1 good, 1 dense, 1 failure, 1 small-object.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02  (SGD · Focal Loss · GIoU) — Configuration &amp; Rationale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041648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621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02  (SGD · Focal Loss · GIoU) Config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969264"/>
            <a:ext cx="39319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261872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5728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16642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1956816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5728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2304288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9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57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2651760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7066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95728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StepLR (step=7, γ=0.1)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999232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95728" y="3054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3346704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5728" y="34015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3694176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Loss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95728" y="3749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Focal Loss (α=0.25, γ=2.0)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4041648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4096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" y="438912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443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95728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566928"/>
            <a:ext cx="4480560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566928"/>
            <a:ext cx="164592" cy="43708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6217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choices?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63440" y="95097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optimizer/LR/schedule as Exp 01 — isolates effect of loss function change only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663440" y="144475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down-weights easy negatives (background), focuses training on hard positives — Cityscapes has extreme bg/obj imbalance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663440" y="193852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α=0.25, γ=2.0: standard RetinaNet values; well-validated for class imbalance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663440" y="2432304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 loss penalises non-overlapping boxes even at zero IoU — better gradient signal than Smooth L1 for early training when boxes miss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663440" y="2926080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 ∈ [-1, 1]; converges slower but produces tighter bounding boxes at convergence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663440" y="341985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focal + GIoU together improve recall on rare classes (Train, Motorcycle) where class imbalance is extreme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663440" y="391363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to Exp01: only the loss functions change; all else identical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663440" y="440740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epochs: same budget for direct mAP comparison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02 — Results (1/3): Loss Curves vs Exp 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Total Loss vs Epoch — Exp 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Focal+GIoU loss scale differs from CE+SmoothL1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Exp 01 vs Exp 02 — Overlay Comparison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scales before overlaying if needed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93192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GIoU Loss Component vs Epoch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RPN box + det box loss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00600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Focal Loss (cls) vs Epoch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magnitude with Exp01 CE loss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TensorBoard: loss curves exported as PNG. Note loss scales are different between CE and Focal — normalize before overlay.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02 — Results (2/3): mAP &amp; Per-Class AP vs Exp 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4173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019556"/>
            <a:ext cx="8357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mAP@0.5 and mAP@0.5:0.95 — Exp 01 vs Exp 02 Grouped 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67028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compare runs → grouped bar chart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066544"/>
            <a:ext cx="8631936" cy="2651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1214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 — Exp 02 (Focal + GIoU)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2432304"/>
            <a:ext cx="2011680" cy="749808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32304"/>
            <a:ext cx="2011680" cy="749808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2432304"/>
            <a:ext cx="2011680" cy="749808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2432304"/>
            <a:ext cx="2011680" cy="749808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" y="3310128"/>
            <a:ext cx="2011680" cy="749808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3310128"/>
            <a:ext cx="2011680" cy="749808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08576" y="3310128"/>
            <a:ext cx="2011680" cy="749808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48272" y="3310128"/>
            <a:ext cx="2011680" cy="749808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39712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Check if Focal Loss improved rare classes (Train AP, Motorcycle AP) vs Exp 01 — that's the key comparison.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02 — Results (3/3): Qualitative + Key Observations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Test Image — Exp 02 Detections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scene as Exp 01 for direct comparison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Side-by-Side: Exp 01 vs Exp 02 (same image)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recall differences on small/rare objects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93192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False Positive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GIoU tighten boxes? Any new false positives?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688336"/>
            <a:ext cx="4224528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800600" y="3438144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Rare Class Examples (Train / Motorcycle)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7856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check: did Focal Loss help rare classes?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Pick same 2-3 images as Exp01 for direct visual comparison. Check Train &amp; Motorcycle detection — the focal loss effect zone.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03  (AdamW · CrossEntropy · SmoothL1) — Configuration &amp; Rationale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041648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621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03  (AdamW · CrossEntropy · SmoothL1) Config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969264"/>
            <a:ext cx="3931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261872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16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5728" y="1316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16642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1956816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95728" y="2011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(AdamW)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2304288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91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95728" y="2359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2651760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7066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95728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StepLR (step=7, γ=0.1)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2999232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95728" y="3054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2608" y="3346704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95728" y="34015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3694176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Loss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95728" y="3749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Entropy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4041648"/>
            <a:ext cx="393192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096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4096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 L1 (β=1.0)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" y="4389120"/>
            <a:ext cx="3931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443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Layers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95728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34840" y="566928"/>
            <a:ext cx="4480560" cy="43708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566928"/>
            <a:ext cx="164592" cy="43708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621792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choices?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63440" y="95097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vs SGD: Adam-family optimizers adapt per-parameter learning rates — potentially faster convergence on fine-tuning tasks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663440" y="144475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0.0001 (10× lower than Exp01): AdamW typically needs lower LR than SGD due to adaptive scaling — prevents overshooting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663440" y="193852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decouples weight decay from gradient update (unlike Adam) — better regularisation for fine-tuning pretrained weights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663440" y="2432304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CE + Smooth L1 as Exp01 — isolates optimizer effect from loss function change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663440" y="2926080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AdamW may converge faster in fewer epochs but may plateau earlier vs SGD momentum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663440" y="3419856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Exp03 (AdamW+CE) vs Exp01 (SGD+CE) isolates optimizer effect cleanly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663440" y="3913632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momentum=0.0 set explicitly in config for clarity — not used by AdamW (uses β1, β2 defaults)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663440" y="440740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9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10-epoch budget — tests whether AdamW reaches Exp01 mAP in equal or fewer steps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03 — Results (1/3): Loss Curves &amp; Convergence Speed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Total Loss vs Epoch — Exp 03 (AdamW)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convergence speed vs Exp01 (SGD)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66928"/>
            <a:ext cx="4224528" cy="2029968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All 3 Experiments — Loss Overlay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did AdamW converge faster early?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2688336"/>
            <a:ext cx="8631936" cy="201168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93192" y="3438144"/>
            <a:ext cx="8357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Epoch-by-Epoch mAP@0.5 Comparison — Exp 01 vs 02 vs 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785616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shows convergence trajectory across experiments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This slide tells the convergence story. Export mAP@0.5 per epoch from MLflow → plot 3-line chart (Exp01/02/03).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03 — Results (2/3): Final mAP &amp; 3-Experiment Comparison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41732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3192" y="1019556"/>
            <a:ext cx="8357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mAP@0.5 and mAP@0.5:0.95 — ALL 3 Experiments Grouped 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67028"/>
            <a:ext cx="8357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primary comparison chart — make it large and clear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066544"/>
            <a:ext cx="8631936" cy="2651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" y="21214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 — Exp 03 (AdamW + CE + SmoothL1)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2432304"/>
            <a:ext cx="2011680" cy="749808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32304"/>
            <a:ext cx="2011680" cy="749808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08576" y="2432304"/>
            <a:ext cx="2011680" cy="749808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48272" y="2432304"/>
            <a:ext cx="2011680" cy="749808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39712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" y="3310128"/>
            <a:ext cx="2011680" cy="749808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3310128"/>
            <a:ext cx="2011680" cy="749808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08576" y="3310128"/>
            <a:ext cx="2011680" cy="749808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48272" y="3310128"/>
            <a:ext cx="2011680" cy="749808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39712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3657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AP@0.5:  ___.__  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Fill per-class AP from MLflow. Compare across all 3 experiments — highlight which experiment wins on each class.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201168" cy="46680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03 — Results (3/3): Summary Table &amp; Qualitative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566928"/>
            <a:ext cx="8631936" cy="166420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Experiment Comparison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914400"/>
            <a:ext cx="8558784" cy="23774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94183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43584" y="94183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49424" y="94183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Loss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46704" y="94183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61104" y="94183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94183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35040" y="9418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0" y="9418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Class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1170432"/>
            <a:ext cx="8558784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11978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43584" y="11978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 0.002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9424" y="1197864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46704" y="1197864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 L1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61104" y="11978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119786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11978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11978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1426464"/>
            <a:ext cx="8558784" cy="2377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43584" y="145389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 0.002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49424" y="145389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Focal Loss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46704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GIoU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61104" y="14538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10912" y="145389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145389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145389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" y="1682496"/>
            <a:ext cx="8558784" cy="2377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" y="170992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43584" y="170992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AdamW 0.0001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49424" y="170992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46704" y="1709928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 L1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61104" y="170992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10912" y="170992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___.__ 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170992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170992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322576"/>
            <a:ext cx="4224528" cy="21762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393192" y="31546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Best Experiment — Qualitative Detections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3192" y="35021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mAP experiment; show 2 representative scenes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322576"/>
            <a:ext cx="4224528" cy="217627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800600" y="315468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Failure Mode Analysis (all 3 exps)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35021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none of them detect well? Small objects? Train?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ADD: Fill summary table from MLflow final epoch metrics. This is the conclusion slide for the OD section.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F3D3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1261872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261872"/>
            <a:ext cx="16459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35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chosen: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24912" y="133502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refinement essential for Cityscapes: small objects, heavy occlusion, high-res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883664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883664"/>
            <a:ext cx="164592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956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Pretraining: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4912" y="1956816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weights — strong initialization; trainable_layers=1 only (hardware constraint)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505456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2505456"/>
            <a:ext cx="164592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01 (SGD + CE + SL1):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2578608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standard Faster R-CNN training; establishes performance floor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127248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3127248"/>
            <a:ext cx="164592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02 (SGD + Focal + GIoU):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4912" y="320040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loss function improvement for class imbalance; expected gain on rare classes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749040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3749040"/>
            <a:ext cx="164592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03 (AdamW + CE + SL1):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24912" y="382219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adaptive optimizer; isolates optimizer effect from loss design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4370832"/>
            <a:ext cx="8412480" cy="566928"/>
          </a:xfrm>
          <a:prstGeom prst="rect">
            <a:avLst/>
          </a:prstGeom>
          <a:solidFill>
            <a:srgbClr val="132535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" y="4370832"/>
            <a:ext cx="164592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24912" y="4443984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of optimizer + loss achieves best mAP@0.5 on Cityscapes?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2026-05-13T02:08:59Z</dcterms:created>
  <dcterms:modified xsi:type="dcterms:W3CDTF">2026-05-13T02:08:59Z</dcterms:modified>
</cp:coreProperties>
</file>